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6858000" cy="9906000" type="A4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3831" autoAdjust="0"/>
    <p:restoredTop sz="98311" autoAdjust="0"/>
  </p:normalViewPr>
  <p:slideViewPr>
    <p:cSldViewPr>
      <p:cViewPr varScale="1">
        <p:scale>
          <a:sx n="77" d="100"/>
          <a:sy n="77" d="100"/>
        </p:scale>
        <p:origin x="3852" y="10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C2446C9-5C3F-48B1-AC4D-89663B0631B2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25EE3EC-D7DB-4CB6-8177-1619BC6C3B4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987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  <p:sp>
        <p:nvSpPr>
          <p:cNvPr id="4100" name="Foliennummernplatzhalt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5AC5E0-8C8E-4FFB-859A-D5B0FBF5002F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3930B-AEE2-4817-B37E-352380DEE0B2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83590-D41E-4C81-A693-E026A7E96AC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33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5FD0D-138D-4F9F-B019-A0FE2AE4F8D1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97A1E-A967-4C5F-B182-4709D76DAB0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01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EACDC-0CDE-47C2-BE6C-570B46D57C01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F1DC6-9CCC-43FF-A7C6-55D217D6C26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145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157E9-8353-470B-A905-DCEF10357492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E5DD5-209F-4364-88C2-B2A7D765ACC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19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352A-AD33-4F7F-A6CB-A5A5218A27E3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CF2A2-4783-412A-80A6-43808A20ACC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65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99903-CD7F-4A47-B0CB-D1F361DD7DFD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56098-F744-4BA3-BE65-16C4DC5A2C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35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DFCB1-EAAB-404B-A2BD-5B2F1F04D1FF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D3A2-34DA-4C04-810F-E2F4518CF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97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AB7E5-368B-454E-8A7F-42880B0074C9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74C29-36CD-4BF7-BDD3-2FCED6D354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414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58250-D004-4B62-AB76-C730CF7B5ACB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6323-64FA-41A2-8EEA-033F0B17BA7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87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63E2E-45EA-439C-ABF5-41CBC9FC761D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F65CC-2F48-4439-8BC1-6A9CD2F31EC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54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F5AF9-9DD0-4B11-A99C-2DBAE0615CEE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45E94-13A8-467F-A40C-5036F993885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elplatzhalter 1"/>
          <p:cNvSpPr>
            <a:spLocks noGrp="1"/>
          </p:cNvSpPr>
          <p:nvPr>
            <p:ph type="title"/>
          </p:nvPr>
        </p:nvSpPr>
        <p:spPr bwMode="auto"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205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342900" y="2311400"/>
            <a:ext cx="6172200" cy="653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42900" y="9182100"/>
            <a:ext cx="160020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5F9CE99-9E03-481E-8874-7073706DCF74}" type="datetimeFigureOut">
              <a:rPr lang="de-DE"/>
              <a:pPr>
                <a:defRPr/>
              </a:pPr>
              <a:t>27.10.2025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343150" y="9182100"/>
            <a:ext cx="217170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914900" y="9182100"/>
            <a:ext cx="160020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DBFE01-50A5-4B40-B8C4-09CF3741D01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feld 5"/>
          <p:cNvSpPr txBox="1">
            <a:spLocks noChangeArrowheads="1"/>
          </p:cNvSpPr>
          <p:nvPr/>
        </p:nvSpPr>
        <p:spPr bwMode="auto">
          <a:xfrm>
            <a:off x="1874838" y="309563"/>
            <a:ext cx="29479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de-DE"/>
            </a:defPPr>
            <a:lvl1pPr algn="ctr">
              <a:defRPr sz="1400" b="1">
                <a:solidFill>
                  <a:srgbClr val="00B0F0"/>
                </a:solidFill>
                <a:latin typeface="+mj-lt"/>
              </a:defRPr>
            </a:lvl1pPr>
            <a:lvl2pPr marL="742950" indent="-285750">
              <a:defRPr>
                <a:latin typeface="Calibri" pitchFamily="34" charset="0"/>
              </a:defRPr>
            </a:lvl2pPr>
            <a:lvl3pPr marL="1143000" indent="-228600">
              <a:defRPr>
                <a:latin typeface="Calibri" pitchFamily="34" charset="0"/>
              </a:defRPr>
            </a:lvl3pPr>
            <a:lvl4pPr marL="1600200" indent="-228600">
              <a:defRPr>
                <a:latin typeface="Calibri" pitchFamily="34" charset="0"/>
              </a:defRPr>
            </a:lvl4pPr>
            <a:lvl5pPr marL="2057400" indent="-228600">
              <a:defRPr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</a:defRPr>
            </a:lvl9pPr>
          </a:lstStyle>
          <a:p>
            <a:r>
              <a:rPr lang="de-DE" altLang="de-DE" sz="1100">
                <a:solidFill>
                  <a:schemeClr val="tx1"/>
                </a:solidFill>
              </a:rPr>
              <a:t>10 2 0 Korrekturmaßnahmen </a:t>
            </a:r>
            <a:endParaRPr lang="de-DE" altLang="de-DE" sz="1100" dirty="0">
              <a:solidFill>
                <a:schemeClr val="tx1"/>
              </a:solidFill>
            </a:endParaRPr>
          </a:p>
        </p:txBody>
      </p:sp>
      <p:cxnSp>
        <p:nvCxnSpPr>
          <p:cNvPr id="97" name="Gerade Verbindung 96"/>
          <p:cNvCxnSpPr/>
          <p:nvPr/>
        </p:nvCxnSpPr>
        <p:spPr>
          <a:xfrm>
            <a:off x="357188" y="928688"/>
            <a:ext cx="6143625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103"/>
          <p:cNvCxnSpPr/>
          <p:nvPr/>
        </p:nvCxnSpPr>
        <p:spPr>
          <a:xfrm>
            <a:off x="1071563" y="928688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/>
          <p:cNvCxnSpPr/>
          <p:nvPr/>
        </p:nvCxnSpPr>
        <p:spPr>
          <a:xfrm>
            <a:off x="357188" y="1316038"/>
            <a:ext cx="6143625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Textfeld 106"/>
          <p:cNvSpPr txBox="1">
            <a:spLocks noChangeArrowheads="1"/>
          </p:cNvSpPr>
          <p:nvPr/>
        </p:nvSpPr>
        <p:spPr bwMode="auto">
          <a:xfrm>
            <a:off x="357188" y="1006475"/>
            <a:ext cx="35718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800" b="1">
                <a:latin typeface="+mj-lt"/>
              </a:rPr>
              <a:t>MA</a:t>
            </a:r>
          </a:p>
        </p:txBody>
      </p:sp>
      <p:sp>
        <p:nvSpPr>
          <p:cNvPr id="1038" name="Textfeld 107"/>
          <p:cNvSpPr txBox="1">
            <a:spLocks noChangeArrowheads="1"/>
          </p:cNvSpPr>
          <p:nvPr/>
        </p:nvSpPr>
        <p:spPr bwMode="auto">
          <a:xfrm>
            <a:off x="714375" y="1006475"/>
            <a:ext cx="3571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800" b="1">
                <a:latin typeface="+mj-lt"/>
              </a:rPr>
              <a:t>VA</a:t>
            </a:r>
          </a:p>
        </p:txBody>
      </p:sp>
      <p:sp>
        <p:nvSpPr>
          <p:cNvPr id="1039" name="Textfeld 108"/>
          <p:cNvSpPr txBox="1">
            <a:spLocks noChangeArrowheads="1"/>
          </p:cNvSpPr>
          <p:nvPr/>
        </p:nvSpPr>
        <p:spPr bwMode="auto">
          <a:xfrm>
            <a:off x="1071563" y="1023938"/>
            <a:ext cx="29289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altLang="de-DE" sz="800" b="1" dirty="0">
                <a:latin typeface="+mj-lt"/>
              </a:rPr>
              <a:t>Ablauf / Tätigkeiten </a:t>
            </a:r>
          </a:p>
        </p:txBody>
      </p:sp>
      <p:sp>
        <p:nvSpPr>
          <p:cNvPr id="1040" name="Textfeld 110"/>
          <p:cNvSpPr txBox="1">
            <a:spLocks noChangeArrowheads="1"/>
          </p:cNvSpPr>
          <p:nvPr/>
        </p:nvSpPr>
        <p:spPr bwMode="auto">
          <a:xfrm>
            <a:off x="4000500" y="1023938"/>
            <a:ext cx="9286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800" b="1">
                <a:latin typeface="+mj-lt"/>
              </a:rPr>
              <a:t>Dokumente</a:t>
            </a:r>
          </a:p>
        </p:txBody>
      </p:sp>
      <p:sp>
        <p:nvSpPr>
          <p:cNvPr id="1041" name="Textfeld 111"/>
          <p:cNvSpPr txBox="1">
            <a:spLocks noChangeArrowheads="1"/>
          </p:cNvSpPr>
          <p:nvPr/>
        </p:nvSpPr>
        <p:spPr bwMode="auto">
          <a:xfrm>
            <a:off x="4929188" y="1023938"/>
            <a:ext cx="1571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800" b="1">
                <a:latin typeface="+mj-lt"/>
              </a:rPr>
              <a:t>Ablauf / Hilfsmittel</a:t>
            </a:r>
          </a:p>
        </p:txBody>
      </p:sp>
      <p:sp>
        <p:nvSpPr>
          <p:cNvPr id="113" name="Abgerundetes Rechteck 112"/>
          <p:cNvSpPr/>
          <p:nvPr/>
        </p:nvSpPr>
        <p:spPr>
          <a:xfrm>
            <a:off x="1463675" y="1524000"/>
            <a:ext cx="785813" cy="15398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Start</a:t>
            </a:r>
          </a:p>
        </p:txBody>
      </p:sp>
      <p:sp>
        <p:nvSpPr>
          <p:cNvPr id="54" name="Rechteck 53"/>
          <p:cNvSpPr/>
          <p:nvPr/>
        </p:nvSpPr>
        <p:spPr>
          <a:xfrm>
            <a:off x="1285875" y="1987550"/>
            <a:ext cx="1143000" cy="46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800" dirty="0">
                <a:solidFill>
                  <a:schemeClr val="tx1"/>
                </a:solidFill>
                <a:latin typeface="+mj-lt"/>
                <a:cs typeface="Arial" pitchFamily="34" charset="0"/>
              </a:rPr>
              <a:t>Bedarf erkennen</a:t>
            </a:r>
          </a:p>
        </p:txBody>
      </p:sp>
      <p:sp>
        <p:nvSpPr>
          <p:cNvPr id="1045" name="Textfeld 63"/>
          <p:cNvSpPr txBox="1">
            <a:spLocks noChangeArrowheads="1"/>
          </p:cNvSpPr>
          <p:nvPr/>
        </p:nvSpPr>
        <p:spPr bwMode="auto">
          <a:xfrm>
            <a:off x="1512888" y="3782852"/>
            <a:ext cx="3444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600">
                <a:latin typeface="+mj-lt"/>
              </a:rPr>
              <a:t>Ja</a:t>
            </a:r>
          </a:p>
        </p:txBody>
      </p:sp>
      <p:sp>
        <p:nvSpPr>
          <p:cNvPr id="1046" name="Textfeld 64"/>
          <p:cNvSpPr txBox="1">
            <a:spLocks noChangeArrowheads="1"/>
          </p:cNvSpPr>
          <p:nvPr/>
        </p:nvSpPr>
        <p:spPr bwMode="auto">
          <a:xfrm>
            <a:off x="1071563" y="3454467"/>
            <a:ext cx="785812" cy="13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" rIns="18000" bIns="360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800" dirty="0">
                <a:latin typeface="+mj-lt"/>
              </a:rPr>
              <a:t>Fragestellung?</a:t>
            </a:r>
          </a:p>
        </p:txBody>
      </p:sp>
      <p:sp>
        <p:nvSpPr>
          <p:cNvPr id="1047" name="Textfeld 65"/>
          <p:cNvSpPr txBox="1">
            <a:spLocks noChangeArrowheads="1"/>
          </p:cNvSpPr>
          <p:nvPr/>
        </p:nvSpPr>
        <p:spPr bwMode="auto">
          <a:xfrm>
            <a:off x="1927080" y="3782852"/>
            <a:ext cx="3571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de-DE" altLang="de-DE" sz="600" dirty="0">
                <a:latin typeface="+mj-lt"/>
              </a:rPr>
              <a:t>Nein</a:t>
            </a:r>
          </a:p>
        </p:txBody>
      </p:sp>
      <p:cxnSp>
        <p:nvCxnSpPr>
          <p:cNvPr id="72" name="Gerade Verbindung 71"/>
          <p:cNvCxnSpPr/>
          <p:nvPr/>
        </p:nvCxnSpPr>
        <p:spPr>
          <a:xfrm rot="10800000">
            <a:off x="357188" y="9596438"/>
            <a:ext cx="6143625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winkelte Verbindung 210"/>
          <p:cNvCxnSpPr>
            <a:stCxn id="113" idx="2"/>
            <a:endCxn id="54" idx="0"/>
          </p:cNvCxnSpPr>
          <p:nvPr/>
        </p:nvCxnSpPr>
        <p:spPr>
          <a:xfrm rot="16200000" flipH="1">
            <a:off x="1701801" y="1831975"/>
            <a:ext cx="309562" cy="1587"/>
          </a:xfrm>
          <a:prstGeom prst="bentConnector3">
            <a:avLst>
              <a:gd name="adj1" fmla="val 8008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Abgerundetes Rechteck 128"/>
          <p:cNvSpPr/>
          <p:nvPr/>
        </p:nvSpPr>
        <p:spPr>
          <a:xfrm>
            <a:off x="1571625" y="4523234"/>
            <a:ext cx="571500" cy="2857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800" dirty="0">
                <a:solidFill>
                  <a:schemeClr val="tx1"/>
                </a:solidFill>
                <a:latin typeface="+mj-lt"/>
                <a:cs typeface="Arial" pitchFamily="34" charset="0"/>
              </a:rPr>
              <a:t>ENDE</a:t>
            </a:r>
          </a:p>
        </p:txBody>
      </p:sp>
      <p:sp>
        <p:nvSpPr>
          <p:cNvPr id="134" name="Flussdiagramm: Verzweigung 133"/>
          <p:cNvSpPr/>
          <p:nvPr/>
        </p:nvSpPr>
        <p:spPr>
          <a:xfrm>
            <a:off x="1608138" y="3563777"/>
            <a:ext cx="500062" cy="214313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800" dirty="0">
              <a:solidFill>
                <a:schemeClr val="tx1"/>
              </a:solidFill>
              <a:latin typeface="+mj-lt"/>
              <a:cs typeface="Arial" pitchFamily="34" charset="0"/>
            </a:endParaRPr>
          </a:p>
        </p:txBody>
      </p:sp>
      <p:cxnSp>
        <p:nvCxnSpPr>
          <p:cNvPr id="141" name="Gewinkelte Verbindung 210"/>
          <p:cNvCxnSpPr>
            <a:stCxn id="54" idx="2"/>
            <a:endCxn id="43" idx="0"/>
          </p:cNvCxnSpPr>
          <p:nvPr/>
        </p:nvCxnSpPr>
        <p:spPr>
          <a:xfrm rot="5400000">
            <a:off x="1695451" y="2613025"/>
            <a:ext cx="322262" cy="1587"/>
          </a:xfrm>
          <a:prstGeom prst="bentConnector3">
            <a:avLst>
              <a:gd name="adj1" fmla="val 7633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/>
          <p:cNvSpPr/>
          <p:nvPr/>
        </p:nvSpPr>
        <p:spPr>
          <a:xfrm>
            <a:off x="1285875" y="2773363"/>
            <a:ext cx="1143000" cy="4651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800" dirty="0">
                <a:solidFill>
                  <a:schemeClr val="tx1"/>
                </a:solidFill>
                <a:latin typeface="+mj-lt"/>
                <a:cs typeface="Arial" pitchFamily="34" charset="0"/>
              </a:rPr>
              <a:t>Problemanalyse</a:t>
            </a:r>
          </a:p>
        </p:txBody>
      </p:sp>
      <p:cxnSp>
        <p:nvCxnSpPr>
          <p:cNvPr id="59" name="Gewinkelte Verbindung 210"/>
          <p:cNvCxnSpPr>
            <a:stCxn id="43" idx="2"/>
          </p:cNvCxnSpPr>
          <p:nvPr/>
        </p:nvCxnSpPr>
        <p:spPr>
          <a:xfrm rot="5400000">
            <a:off x="1695450" y="3398838"/>
            <a:ext cx="322263" cy="1587"/>
          </a:xfrm>
          <a:prstGeom prst="bentConnector3">
            <a:avLst>
              <a:gd name="adj1" fmla="val 8160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winkelte Verbindung 210"/>
          <p:cNvCxnSpPr>
            <a:stCxn id="134" idx="2"/>
            <a:endCxn id="129" idx="0"/>
          </p:cNvCxnSpPr>
          <p:nvPr/>
        </p:nvCxnSpPr>
        <p:spPr>
          <a:xfrm rot="5400000">
            <a:off x="1485200" y="4150265"/>
            <a:ext cx="745144" cy="79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hteck 75"/>
          <p:cNvSpPr/>
          <p:nvPr/>
        </p:nvSpPr>
        <p:spPr>
          <a:xfrm>
            <a:off x="367204" y="9600232"/>
            <a:ext cx="610306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800" b="1">
                <a:latin typeface="Calibri" panose="020F0502020204030204" pitchFamily="34" charset="0"/>
              </a:rPr>
              <a:t>Revision </a:t>
            </a:r>
            <a:r>
              <a:rPr lang="de-DE" sz="800" b="1" dirty="0">
                <a:latin typeface="Calibri" panose="020F0502020204030204" pitchFamily="34" charset="0"/>
              </a:rPr>
              <a:t>0, Seite 1 von 1, gültig ab xx.xx.xxxx</a:t>
            </a:r>
            <a:endParaRPr lang="de-DE" sz="800" dirty="0">
              <a:latin typeface="Calibri" panose="020F0502020204030204" pitchFamily="34" charset="0"/>
            </a:endParaRPr>
          </a:p>
        </p:txBody>
      </p:sp>
      <p:cxnSp>
        <p:nvCxnSpPr>
          <p:cNvPr id="3" name="Gerade Verbindung mit Pfeil 2"/>
          <p:cNvCxnSpPr/>
          <p:nvPr/>
        </p:nvCxnSpPr>
        <p:spPr>
          <a:xfrm flipH="1" flipV="1">
            <a:off x="1463676" y="632520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1730060" y="632520"/>
            <a:ext cx="22156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b="1" dirty="0"/>
              <a:t>Firmenlogo </a:t>
            </a:r>
            <a:r>
              <a:rPr lang="de-DE" sz="600" b="1" dirty="0">
                <a:sym typeface="Wingdings" panose="05000000000000000000" pitchFamily="2" charset="2"/>
              </a:rPr>
              <a:t> Bitte austauschen mit dem eigenen Logo</a:t>
            </a:r>
            <a:endParaRPr lang="de-DE" sz="600" b="1" dirty="0"/>
          </a:p>
        </p:txBody>
      </p:sp>
      <p:cxnSp>
        <p:nvCxnSpPr>
          <p:cNvPr id="82" name="Gerade Verbindung mit Pfeil 81"/>
          <p:cNvCxnSpPr/>
          <p:nvPr/>
        </p:nvCxnSpPr>
        <p:spPr>
          <a:xfrm flipH="1" flipV="1">
            <a:off x="4354116" y="499165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feld 82"/>
          <p:cNvSpPr txBox="1"/>
          <p:nvPr/>
        </p:nvSpPr>
        <p:spPr>
          <a:xfrm>
            <a:off x="4354116" y="612195"/>
            <a:ext cx="209223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b="1" dirty="0"/>
              <a:t>Prozessname </a:t>
            </a:r>
            <a:r>
              <a:rPr lang="de-DE" sz="600" b="1" dirty="0">
                <a:sym typeface="Wingdings" panose="05000000000000000000" pitchFamily="2" charset="2"/>
              </a:rPr>
              <a:t> mit Zuordnung in der Norm = 10.2.0</a:t>
            </a:r>
            <a:endParaRPr lang="de-DE" sz="600" b="1" dirty="0"/>
          </a:p>
        </p:txBody>
      </p:sp>
      <p:cxnSp>
        <p:nvCxnSpPr>
          <p:cNvPr id="84" name="Gerade Verbindung mit Pfeil 83"/>
          <p:cNvCxnSpPr/>
          <p:nvPr/>
        </p:nvCxnSpPr>
        <p:spPr>
          <a:xfrm flipH="1" flipV="1">
            <a:off x="2587862" y="2309813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/>
          <p:cNvCxnSpPr/>
          <p:nvPr/>
        </p:nvCxnSpPr>
        <p:spPr>
          <a:xfrm flipH="1" flipV="1">
            <a:off x="2284887" y="1702309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/>
          <p:cNvSpPr txBox="1"/>
          <p:nvPr/>
        </p:nvSpPr>
        <p:spPr>
          <a:xfrm>
            <a:off x="2507227" y="158965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b="1" dirty="0"/>
              <a:t>Prozessbeginn;</a:t>
            </a:r>
            <a:r>
              <a:rPr lang="de-DE" sz="600" b="1" dirty="0">
                <a:sym typeface="Wingdings" panose="05000000000000000000" pitchFamily="2" charset="2"/>
              </a:rPr>
              <a:t> kann auch </a:t>
            </a:r>
          </a:p>
          <a:p>
            <a:r>
              <a:rPr lang="de-DE" sz="600" b="1" dirty="0">
                <a:sym typeface="Wingdings" panose="05000000000000000000" pitchFamily="2" charset="2"/>
              </a:rPr>
              <a:t>Aufgrund eines anderen Prozesses </a:t>
            </a:r>
          </a:p>
          <a:p>
            <a:r>
              <a:rPr lang="de-DE" sz="600" b="1" dirty="0">
                <a:sym typeface="Wingdings" panose="05000000000000000000" pitchFamily="2" charset="2"/>
              </a:rPr>
              <a:t>gestartet werden (Wechselwirkung)</a:t>
            </a:r>
            <a:endParaRPr lang="de-DE" sz="600" b="1" dirty="0"/>
          </a:p>
        </p:txBody>
      </p:sp>
      <p:sp>
        <p:nvSpPr>
          <p:cNvPr id="88" name="Textfeld 87"/>
          <p:cNvSpPr txBox="1"/>
          <p:nvPr/>
        </p:nvSpPr>
        <p:spPr>
          <a:xfrm>
            <a:off x="2820039" y="2243321"/>
            <a:ext cx="1156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Prozessschritt;</a:t>
            </a:r>
            <a:r>
              <a:rPr lang="de-DE" sz="600" b="1" dirty="0">
                <a:sym typeface="Wingdings" panose="05000000000000000000" pitchFamily="2" charset="2"/>
              </a:rPr>
              <a:t> Beinhaltet eine Aufgabe</a:t>
            </a:r>
            <a:endParaRPr lang="de-DE" sz="600" b="1" dirty="0"/>
          </a:p>
        </p:txBody>
      </p:sp>
      <p:cxnSp>
        <p:nvCxnSpPr>
          <p:cNvPr id="89" name="Gerade Verbindung mit Pfeil 88"/>
          <p:cNvCxnSpPr/>
          <p:nvPr/>
        </p:nvCxnSpPr>
        <p:spPr>
          <a:xfrm flipH="1" flipV="1">
            <a:off x="2466412" y="3030355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/>
          <p:cNvSpPr txBox="1"/>
          <p:nvPr/>
        </p:nvSpPr>
        <p:spPr>
          <a:xfrm>
            <a:off x="2698589" y="2963863"/>
            <a:ext cx="1156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Prozessschritt;</a:t>
            </a:r>
            <a:r>
              <a:rPr lang="de-DE" sz="600" b="1" dirty="0">
                <a:sym typeface="Wingdings" panose="05000000000000000000" pitchFamily="2" charset="2"/>
              </a:rPr>
              <a:t> Beinhaltet eine Aufgabe</a:t>
            </a:r>
            <a:endParaRPr lang="de-DE" sz="600" b="1" dirty="0"/>
          </a:p>
        </p:txBody>
      </p:sp>
      <p:cxnSp>
        <p:nvCxnSpPr>
          <p:cNvPr id="93" name="Gewinkelte Verbindung 210"/>
          <p:cNvCxnSpPr>
            <a:stCxn id="134" idx="3"/>
          </p:cNvCxnSpPr>
          <p:nvPr/>
        </p:nvCxnSpPr>
        <p:spPr>
          <a:xfrm>
            <a:off x="2108200" y="3670934"/>
            <a:ext cx="358212" cy="15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/>
          <p:cNvCxnSpPr/>
          <p:nvPr/>
        </p:nvCxnSpPr>
        <p:spPr>
          <a:xfrm flipH="1" flipV="1">
            <a:off x="2410224" y="4732601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feld 97"/>
          <p:cNvSpPr txBox="1"/>
          <p:nvPr/>
        </p:nvSpPr>
        <p:spPr>
          <a:xfrm>
            <a:off x="2642401" y="4666109"/>
            <a:ext cx="115697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Prozessende</a:t>
            </a:r>
          </a:p>
        </p:txBody>
      </p:sp>
      <p:cxnSp>
        <p:nvCxnSpPr>
          <p:cNvPr id="103" name="Gerade Verbindung mit Pfeil 102"/>
          <p:cNvCxnSpPr/>
          <p:nvPr/>
        </p:nvCxnSpPr>
        <p:spPr>
          <a:xfrm flipH="1" flipV="1">
            <a:off x="2355685" y="3849344"/>
            <a:ext cx="221455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feld 104"/>
          <p:cNvSpPr txBox="1"/>
          <p:nvPr/>
        </p:nvSpPr>
        <p:spPr>
          <a:xfrm>
            <a:off x="2587862" y="3782852"/>
            <a:ext cx="1156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Abfrage; </a:t>
            </a:r>
            <a:r>
              <a:rPr lang="de-DE" sz="600" b="1" dirty="0">
                <a:sym typeface="Wingdings" panose="05000000000000000000" pitchFamily="2" charset="2"/>
              </a:rPr>
              <a:t>Leitet eine Entscheidung ein</a:t>
            </a:r>
            <a:endParaRPr lang="de-DE" sz="600" b="1" dirty="0"/>
          </a:p>
        </p:txBody>
      </p:sp>
      <p:cxnSp>
        <p:nvCxnSpPr>
          <p:cNvPr id="107" name="Gerade Verbindung mit Pfeil 106"/>
          <p:cNvCxnSpPr>
            <a:stCxn id="108" idx="1"/>
            <a:endCxn id="1037" idx="2"/>
          </p:cNvCxnSpPr>
          <p:nvPr/>
        </p:nvCxnSpPr>
        <p:spPr>
          <a:xfrm flipV="1">
            <a:off x="534814" y="1220788"/>
            <a:ext cx="968" cy="43858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feld 65"/>
          <p:cNvSpPr txBox="1">
            <a:spLocks noChangeArrowheads="1"/>
          </p:cNvSpPr>
          <p:nvPr/>
        </p:nvSpPr>
        <p:spPr bwMode="auto">
          <a:xfrm>
            <a:off x="534814" y="5468089"/>
            <a:ext cx="1282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600" b="1"/>
            </a:lvl1pPr>
          </a:lstStyle>
          <a:p>
            <a:r>
              <a:rPr lang="de-DE" altLang="de-DE" dirty="0"/>
              <a:t>Gibt an wer an dem Prozess </a:t>
            </a:r>
            <a:r>
              <a:rPr lang="de-DE" altLang="de-DE"/>
              <a:t>mitarbeitet. </a:t>
            </a:r>
            <a:endParaRPr lang="de-DE" altLang="de-DE" dirty="0"/>
          </a:p>
        </p:txBody>
      </p:sp>
      <p:cxnSp>
        <p:nvCxnSpPr>
          <p:cNvPr id="109" name="Gerade Verbindung mit Pfeil 108"/>
          <p:cNvCxnSpPr>
            <a:stCxn id="110" idx="1"/>
            <a:endCxn id="1038" idx="2"/>
          </p:cNvCxnSpPr>
          <p:nvPr/>
        </p:nvCxnSpPr>
        <p:spPr>
          <a:xfrm flipV="1">
            <a:off x="892122" y="1220788"/>
            <a:ext cx="847" cy="390565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feld 65"/>
          <p:cNvSpPr txBox="1">
            <a:spLocks noChangeArrowheads="1"/>
          </p:cNvSpPr>
          <p:nvPr/>
        </p:nvSpPr>
        <p:spPr bwMode="auto">
          <a:xfrm>
            <a:off x="892122" y="4987945"/>
            <a:ext cx="1509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600" b="1"/>
            </a:lvl1pPr>
          </a:lstStyle>
          <a:p>
            <a:r>
              <a:rPr lang="de-DE" altLang="de-DE" dirty="0"/>
              <a:t>Gibt an wer  für den Schritt/ die Fragestellung  verantwortlich ist.</a:t>
            </a:r>
          </a:p>
        </p:txBody>
      </p:sp>
      <p:cxnSp>
        <p:nvCxnSpPr>
          <p:cNvPr id="111" name="Gerade Verbindung 110"/>
          <p:cNvCxnSpPr/>
          <p:nvPr/>
        </p:nvCxnSpPr>
        <p:spPr>
          <a:xfrm>
            <a:off x="714375" y="933449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111"/>
          <p:cNvCxnSpPr/>
          <p:nvPr/>
        </p:nvCxnSpPr>
        <p:spPr>
          <a:xfrm>
            <a:off x="354012" y="933449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rade Verbindung mit Pfeil 119"/>
          <p:cNvCxnSpPr>
            <a:stCxn id="121" idx="1"/>
            <a:endCxn id="1040" idx="2"/>
          </p:cNvCxnSpPr>
          <p:nvPr/>
        </p:nvCxnSpPr>
        <p:spPr>
          <a:xfrm flipH="1" flipV="1">
            <a:off x="4464844" y="1239838"/>
            <a:ext cx="10368" cy="40359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feld 120"/>
          <p:cNvSpPr txBox="1"/>
          <p:nvPr/>
        </p:nvSpPr>
        <p:spPr>
          <a:xfrm>
            <a:off x="4475212" y="5137274"/>
            <a:ext cx="1944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Verweis auf notwendige und mögliche Dokumente</a:t>
            </a:r>
          </a:p>
        </p:txBody>
      </p:sp>
      <p:cxnSp>
        <p:nvCxnSpPr>
          <p:cNvPr id="124" name="Gerade Verbindung mit Pfeil 123"/>
          <p:cNvCxnSpPr>
            <a:stCxn id="138" idx="0"/>
            <a:endCxn id="1041" idx="2"/>
          </p:cNvCxnSpPr>
          <p:nvPr/>
        </p:nvCxnSpPr>
        <p:spPr>
          <a:xfrm flipV="1">
            <a:off x="5712620" y="1239838"/>
            <a:ext cx="2381" cy="19586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feld 137"/>
          <p:cNvSpPr txBox="1"/>
          <p:nvPr/>
        </p:nvSpPr>
        <p:spPr>
          <a:xfrm>
            <a:off x="4924425" y="3198512"/>
            <a:ext cx="1576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1" dirty="0"/>
              <a:t>Raum für Erklärungen und detaillierte Anweisungen.</a:t>
            </a:r>
          </a:p>
        </p:txBody>
      </p:sp>
      <p:cxnSp>
        <p:nvCxnSpPr>
          <p:cNvPr id="139" name="Gerade Verbindung mit Pfeil 138"/>
          <p:cNvCxnSpPr/>
          <p:nvPr/>
        </p:nvCxnSpPr>
        <p:spPr>
          <a:xfrm flipH="1">
            <a:off x="2065853" y="1127919"/>
            <a:ext cx="289832" cy="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feld 139"/>
          <p:cNvSpPr txBox="1"/>
          <p:nvPr/>
        </p:nvSpPr>
        <p:spPr>
          <a:xfrm>
            <a:off x="2418735" y="1033444"/>
            <a:ext cx="10951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b="1" dirty="0"/>
              <a:t>Logischer Prozessablauf</a:t>
            </a:r>
          </a:p>
        </p:txBody>
      </p:sp>
      <p:cxnSp>
        <p:nvCxnSpPr>
          <p:cNvPr id="142" name="Gerade Verbindung 141"/>
          <p:cNvCxnSpPr/>
          <p:nvPr/>
        </p:nvCxnSpPr>
        <p:spPr>
          <a:xfrm>
            <a:off x="4005264" y="939602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142"/>
          <p:cNvCxnSpPr/>
          <p:nvPr/>
        </p:nvCxnSpPr>
        <p:spPr>
          <a:xfrm>
            <a:off x="4924425" y="939602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144"/>
          <p:cNvCxnSpPr/>
          <p:nvPr/>
        </p:nvCxnSpPr>
        <p:spPr>
          <a:xfrm>
            <a:off x="6500813" y="939602"/>
            <a:ext cx="0" cy="3737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XXX Vorlag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XXX Vorlage</Template>
  <TotalTime>0</TotalTime>
  <Words>120</Words>
  <Application>Microsoft Office PowerPoint</Application>
  <PresentationFormat>A4-Papier (210 x 297 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XXX Vorlage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ASZ</dc:title>
  <dc:subject>qmhandbuch.de</dc:subject>
  <dc:creator>ASZ</dc:creator>
  <dc:description>qmhandbuch.de</dc:description>
  <cp:lastModifiedBy>Praktikant</cp:lastModifiedBy>
  <cp:revision>46</cp:revision>
  <cp:lastPrinted>2014-04-07T09:56:12Z</cp:lastPrinted>
  <dcterms:created xsi:type="dcterms:W3CDTF">2008-06-03T13:42:07Z</dcterms:created>
  <dcterms:modified xsi:type="dcterms:W3CDTF">2025-10-27T10:06:59Z</dcterms:modified>
</cp:coreProperties>
</file>